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C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9144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69240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 NANBA — Clinical Intelligence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t>Complete Healthcare Knowledge Base &amp; Sidebar Standards</a:t>
            </a:r>
          </a:p>
          <a:p>
            <a:pPr>
              <a:spcBef>
                <a:spcPts val="1600"/>
              </a:spcBef>
              <a:defRPr sz="1250">
                <a:solidFill>
                  <a:srgbClr val="CBD5E1"/>
                </a:solidFill>
              </a:defRPr>
            </a:pPr>
            <a:r>
              <a:t>A clean, heading-by-heading walkthrough of every healthcare standard, requirement, implementation, and official API link across the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Doctor Intelligence Workspace: The 11 Knowledge Base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5360" y="1476756"/>
            <a:ext cx="5334000" cy="4663440"/>
          </a:xfrm>
          <a:prstGeom prst="roundRect">
            <a:avLst/>
          </a:prstGeom>
          <a:solidFill>
            <a:srgbClr val="052C54"/>
          </a:solidFill>
          <a:ln w="19050">
            <a:solidFill>
              <a:srgbClr val="0B4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92880" y="1892808"/>
            <a:ext cx="7203439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endParaRPr sz="1200" dirty="0"/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1. Disease/condition: ICD-11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2. Detailed clinical terminology: SNOMED CT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3. Disease explanations &amp; symptoms: NIDDK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4. Reviewed pathways: NICE Guidelines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5. Laboratory observations: LOINC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6. Anatomy &amp; physiology: </a:t>
            </a:r>
            <a:r>
              <a:rPr sz="1600" dirty="0" err="1"/>
              <a:t>OpenStax</a:t>
            </a:r>
            <a:r>
              <a:rPr sz="1600" dirty="0"/>
              <a:t> A&amp;P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7. Units: UCUM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8. Medicines: ATC &amp; </a:t>
            </a:r>
            <a:r>
              <a:rPr sz="1600" dirty="0" err="1"/>
              <a:t>RxNorm</a:t>
            </a:r>
            <a:endParaRPr sz="1600" dirty="0"/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9. Medical imaging: DICOM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10. Interoperability: FHIR R4</a:t>
            </a:r>
          </a:p>
          <a:p>
            <a:pPr>
              <a:spcBef>
                <a:spcPts val="350"/>
              </a:spcBef>
              <a:defRPr sz="950">
                <a:solidFill>
                  <a:srgbClr val="E2E8F0"/>
                </a:solidFill>
              </a:defRPr>
            </a:pPr>
            <a:r>
              <a:rPr sz="1600" dirty="0"/>
              <a:t>• 11. Procedures/interventions: ICHI / SNOMED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 1: Disease / Condition — WHO ICD-11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CLINICAL </a:t>
            </a:r>
            <a:r>
              <a:rPr sz="1600" dirty="0" smtClean="0"/>
              <a:t>REQUIREMENT</a:t>
            </a:r>
            <a:endParaRPr lang="en-US" sz="1600" dirty="0" smtClean="0"/>
          </a:p>
          <a:p>
            <a:pPr>
              <a:defRPr sz="1100" b="1">
                <a:solidFill>
                  <a:srgbClr val="0284C7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Standardize disease and condition classification using WHO ICD-11</a:t>
            </a:r>
            <a:r>
              <a:rPr sz="1600" dirty="0" smtClean="0"/>
              <a:t>.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• Extend it using the WHO Foundation component (interconnected diseases, disorders, signs, symptoms, interventions</a:t>
            </a:r>
            <a:r>
              <a:rPr sz="1600" dirty="0" smtClean="0"/>
              <a:t>).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• Support official WHO Browser navigation and versioned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WHAT WE BUILT IN THE </a:t>
            </a:r>
            <a:r>
              <a:rPr sz="1600" dirty="0" smtClean="0"/>
              <a:t>APPLICATION</a:t>
            </a:r>
            <a:endParaRPr lang="en-US" sz="1600" dirty="0" smtClean="0"/>
          </a:p>
          <a:p>
            <a:pPr>
              <a:defRPr sz="1100" b="1">
                <a:solidFill>
                  <a:srgbClr val="0F766E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400" dirty="0"/>
              <a:t>• MMS Code Book: Pre-loaded 17,692 official diseases (e.g. Cholera = 1A00, Diabetes = 5A11</a:t>
            </a:r>
            <a:r>
              <a:rPr sz="1400" dirty="0" smtClean="0"/>
              <a:t>).</a:t>
            </a:r>
            <a:r>
              <a:rPr sz="1400" dirty="0"/>
              <a:t/>
            </a:r>
            <a:br>
              <a:rPr sz="1400" dirty="0"/>
            </a:br>
            <a:r>
              <a:rPr sz="1400" dirty="0"/>
              <a:t>• All 26 WHO Chapters: Instant dropdown filter by body system (</a:t>
            </a:r>
            <a:r>
              <a:rPr sz="1400" dirty="0" err="1"/>
              <a:t>Ch</a:t>
            </a:r>
            <a:r>
              <a:rPr sz="1400" dirty="0"/>
              <a:t> 01 Infections, </a:t>
            </a:r>
            <a:r>
              <a:rPr sz="1400" dirty="0" err="1"/>
              <a:t>Ch</a:t>
            </a:r>
            <a:r>
              <a:rPr sz="1400" dirty="0"/>
              <a:t> 11 Heart, </a:t>
            </a:r>
            <a:r>
              <a:rPr sz="1400" dirty="0" err="1"/>
              <a:t>Ch</a:t>
            </a:r>
            <a:r>
              <a:rPr sz="1400" dirty="0"/>
              <a:t> 21 Symptoms</a:t>
            </a:r>
            <a:r>
              <a:rPr sz="1400" dirty="0" smtClean="0"/>
              <a:t>).</a:t>
            </a:r>
            <a:r>
              <a:rPr sz="1400" dirty="0"/>
              <a:t/>
            </a:r>
            <a:br>
              <a:rPr sz="1400" dirty="0"/>
            </a:br>
            <a:r>
              <a:rPr sz="1400" dirty="0"/>
              <a:t>• Disease Popup: Clicking a disease extracts signs, symptoms, and WHO clinical intervention protocols (ORS, IV fluids).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600" dirty="0"/>
              <a:t>🔗 OFFICIAL WHO ICD-11 API &amp; RESOURCE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Live Search API: https://id.who.int/icd/release/11/2026-01/mms/search?q={disease}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OAuth 2.0 Token </a:t>
            </a:r>
            <a:r>
              <a:rPr sz="1600" dirty="0" err="1"/>
              <a:t>Auth</a:t>
            </a:r>
            <a:r>
              <a:rPr sz="1600" dirty="0"/>
              <a:t>: https://icdaccessmanagement.who.int/connect/token (Client Credentials)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Official WHO MMS Browser: https://icd.who.int/browse/2026-01/mms/en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1840" y="68580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rPr dirty="0"/>
              <a:t>Heading 2: Detailed Clinical Terminology — SNOMED </a:t>
            </a:r>
            <a:r>
              <a:rPr dirty="0" smtClean="0"/>
              <a:t>CT</a:t>
            </a:r>
            <a:r>
              <a:rPr lang="en-US" dirty="0" smtClean="0"/>
              <a:t> (</a:t>
            </a:r>
            <a:r>
              <a:rPr lang="en-US" sz="2100" b="1" dirty="0"/>
              <a:t>Medical </a:t>
            </a:r>
            <a:r>
              <a:rPr lang="en-US" sz="2100" b="1" dirty="0" smtClean="0"/>
              <a:t>Translator</a:t>
            </a:r>
            <a:r>
              <a:rPr lang="en-US" dirty="0" smtClean="0"/>
              <a:t>)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CLINICAL REQUIREMENT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Use SNOMED CT for clinical concepts, descriptions, synonyms, and relationships.</a:t>
            </a:r>
            <a:br>
              <a:rPr sz="1600" dirty="0"/>
            </a:br>
            <a:r>
              <a:rPr sz="1600" dirty="0"/>
              <a:t>• Complement ICD-11 (do NOT replace the internal diagnostic model).</a:t>
            </a:r>
            <a:br>
              <a:rPr sz="1600" dirty="0"/>
            </a:br>
            <a:r>
              <a:rPr sz="1600" dirty="0"/>
              <a:t>• Verify licensing compliance with the National Release Centre for India (NRC India).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WHAT WE BUILT IN THE APPLICATION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Doctor Synonyms: Understands 'Sugar complaint', 'T2D', and 'Adult diabetes' as Concept 44054006.</a:t>
            </a:r>
            <a:br>
              <a:rPr sz="1600" dirty="0"/>
            </a:br>
            <a:r>
              <a:rPr sz="1600" dirty="0"/>
              <a:t>• Ontological Relationships: Models 'IS A' (Dengue is a viral disease) and 'DIRECT SUBSTANCE' (Dengue virus).</a:t>
            </a:r>
            <a:br>
              <a:rPr sz="1600" dirty="0"/>
            </a:br>
            <a:r>
              <a:rPr sz="1600" dirty="0"/>
              <a:t>• Complementary Mapping: Every concept links back to an ICD-11 code (Concept 44054006 ➔ 5A11).</a:t>
            </a:r>
            <a:br>
              <a:rPr sz="1600" dirty="0"/>
            </a:br>
            <a:r>
              <a:rPr sz="1600" dirty="0"/>
              <a:t>• NRC India Button: Proves compliance with Ministry of Health (</a:t>
            </a:r>
            <a:r>
              <a:rPr sz="1600" dirty="0" err="1"/>
              <a:t>MoHFW</a:t>
            </a:r>
            <a:r>
              <a:rPr sz="1600" dirty="0"/>
              <a:t> / ABDM) licensing</a:t>
            </a:r>
            <a:r>
              <a:rPr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rPr lang="en-US" sz="1100" dirty="0" smtClean="0"/>
              <a:t>(All </a:t>
            </a:r>
            <a:r>
              <a:rPr lang="en-US" sz="1100" dirty="0"/>
              <a:t>we have to do is follow NRC India's official rules and show compliance</a:t>
            </a:r>
            <a:r>
              <a:rPr lang="en-US" sz="1100" dirty="0" smtClean="0"/>
              <a:t>.)</a:t>
            </a: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766E"/>
                </a:solidFill>
              </a:defRPr>
            </a:pPr>
            <a:r>
              <a:rPr sz="1600" dirty="0"/>
              <a:t>🔗 OFFICIAL SNOMED CT &amp; INDIA LICENSING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National Release Centre for India (NRC India): https://www.nrces.in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Official SNOMED Concept Browser: https://browser.ihtsdotools.org/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Internal Platform API: GET /</a:t>
            </a:r>
            <a:r>
              <a:rPr sz="1600" dirty="0" err="1"/>
              <a:t>api</a:t>
            </a:r>
            <a:r>
              <a:rPr sz="1600" dirty="0"/>
              <a:t>/normalize/</a:t>
            </a:r>
            <a:r>
              <a:rPr sz="1600" dirty="0" err="1"/>
              <a:t>snomed</a:t>
            </a:r>
            <a:r>
              <a:rPr sz="1600" dirty="0"/>
              <a:t>/catalog (Filter by hierarchy &amp; synonyms)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 3: Disease Explanations &amp; Symptoms — NIDDK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CLINICAL REQUIREMENT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Provide patient-oriented disease information including symptoms, causes, and complications.</a:t>
            </a:r>
            <a:br>
              <a:rPr sz="1600" dirty="0"/>
            </a:br>
            <a:r>
              <a:rPr sz="1600" dirty="0"/>
              <a:t>• Identify candidate plain-language expressions to bridge medical jargon and layperson terms.</a:t>
            </a:r>
            <a:br>
              <a:rPr sz="1600" dirty="0"/>
            </a:br>
            <a:r>
              <a:rPr sz="1600" dirty="0"/>
              <a:t>• Clinical content must include validation for intended population and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WHAT WE BUILT IN THE APPLICATION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Plain-Language Dictionary: Automatically translates jargon (e.g. 'Dysuria' ➔ 'Painful urination', 'Polyuria' ➔ 'Frequent urination', 'Paresthesia' ➔ 'Tingling').</a:t>
            </a:r>
            <a:br>
              <a:rPr sz="1600" dirty="0"/>
            </a:br>
            <a:r>
              <a:rPr sz="1600" dirty="0"/>
              <a:t>• Causes &amp; Risk Factors: Breaks down modifiable risks vs. genetic causes.</a:t>
            </a:r>
            <a:br>
              <a:rPr sz="1600" dirty="0"/>
            </a:br>
            <a:r>
              <a:rPr sz="1600" dirty="0"/>
              <a:t>• Patient Counseling Cards: Printable patient education sheets in Patient Portal.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rPr sz="1600" dirty="0"/>
              <a:t>🔗 OFFICIAL NIDDK &amp; NIH CONSUMER HEALTH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NIH NIDDK Health Information Portal: https://www.niddk.nih.gov/health-information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NIH NLM Health Topics Web Service: https://wsearch.nlm.nih.gov/ws/query?db=healthTopics&amp;term={term}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Internal Platform API: GET /</a:t>
            </a:r>
            <a:r>
              <a:rPr sz="1600" dirty="0" err="1"/>
              <a:t>api</a:t>
            </a:r>
            <a:r>
              <a:rPr sz="1600" dirty="0"/>
              <a:t>/normalize/</a:t>
            </a:r>
            <a:r>
              <a:rPr sz="1600" dirty="0" err="1"/>
              <a:t>niddk</a:t>
            </a:r>
            <a:r>
              <a:rPr sz="1600" dirty="0"/>
              <a:t>/resources (Plain language search)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 4: Reviewed Pathways &amp; Recommendations — NICE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CLINICAL REQUIREMENT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Ingest evidence-based clinical guidelines for assessment pathways and decision-support design.</a:t>
            </a:r>
            <a:br>
              <a:rPr sz="1600" dirty="0"/>
            </a:br>
            <a:r>
              <a:rPr sz="1600" dirty="0"/>
              <a:t>• Record guideline version, publication date, target population, and jurisdiction.</a:t>
            </a:r>
            <a:br>
              <a:rPr sz="1600" dirty="0"/>
            </a:br>
            <a:r>
              <a:rPr sz="1600" dirty="0"/>
              <a:t>• Note: NICE is the UK NHS benchmark and requires clinical adaptation for other territories.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WHAT WE BUILT IN THE APPLICATION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Core Guidelines Ingested: NG28 (Type 2 Diabetes), NG136 (Hypertension), NG203 (Chronic Kidney Disease), CG184 (GERD).</a:t>
            </a:r>
            <a:br>
              <a:rPr sz="1600" dirty="0"/>
            </a:br>
            <a:r>
              <a:rPr sz="1600" dirty="0"/>
              <a:t>• Staged Care Pathways: Initial Assessment ➔ First-line Monotherapy ➔ Dual Therapy ➔ Monitoring.</a:t>
            </a:r>
            <a:br>
              <a:rPr sz="1600" dirty="0"/>
            </a:br>
            <a:r>
              <a:rPr sz="1600" dirty="0"/>
              <a:t>• Executable Decision Rules: Directly drives Contradiction Radar (e.g. '</a:t>
            </a:r>
            <a:r>
              <a:rPr sz="1600" dirty="0" err="1"/>
              <a:t>eGFR</a:t>
            </a:r>
            <a:r>
              <a:rPr sz="1600" dirty="0"/>
              <a:t> &lt; 30 blocks Metformin').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E22CE"/>
                </a:solidFill>
              </a:defRPr>
            </a:pPr>
            <a:r>
              <a:rPr sz="1600" dirty="0"/>
              <a:t>🔗 OFFICIAL NICE GUIDELINES &amp; EVIDENCE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NICE UK Official Guidance Portal: https://www.nice.org.uk/guidance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Key Clinical Guidelines: NG28 (Diabetes), NG136 (Hypertension), NG203 (Renal Care)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Internal Platform API: GET /</a:t>
            </a:r>
            <a:r>
              <a:rPr sz="1600" dirty="0" err="1"/>
              <a:t>api</a:t>
            </a:r>
            <a:r>
              <a:rPr sz="1600" dirty="0"/>
              <a:t>/normalize/nice/guidelines (Staged care steps)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 5: Laboratory &amp; Clinical Observations — LOINC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CLINICAL REQUIREMENT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Standardize lab tests, clinical measurements, vitals, and diagnostic observations.</a:t>
            </a:r>
            <a:br>
              <a:rPr sz="1600" dirty="0"/>
            </a:br>
            <a:r>
              <a:rPr sz="1600" dirty="0"/>
              <a:t>• Implement LOINC's SIX AXES to distinguish tests accurately.</a:t>
            </a:r>
            <a:br>
              <a:rPr sz="1600" dirty="0"/>
            </a:br>
            <a:r>
              <a:rPr sz="1600" dirty="0"/>
              <a:t>• Architectural Guardrail: Support the observation and investigation layer; do NOT act as a disease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THE 6 STANDARDIZED LOINC AXES IN APP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1. Component: What was measured (e.g. Hemoglobin A1c, Creatinine)</a:t>
            </a:r>
            <a:br>
              <a:rPr sz="1600" dirty="0"/>
            </a:br>
            <a:r>
              <a:rPr sz="1600" dirty="0"/>
              <a:t>2. Property: Kind of quantity (e.g. Mass fraction, Mass concentration)</a:t>
            </a:r>
            <a:br>
              <a:rPr sz="1600" dirty="0"/>
            </a:br>
            <a:r>
              <a:rPr sz="1600" dirty="0"/>
              <a:t>3. Timing: Point in time vs 24-hour collection</a:t>
            </a:r>
            <a:br>
              <a:rPr sz="1600" dirty="0"/>
            </a:br>
            <a:r>
              <a:rPr sz="1600" dirty="0"/>
              <a:t>4. System: Specimen context (Blood, Serum, Urine)</a:t>
            </a:r>
            <a:br>
              <a:rPr sz="1600" dirty="0"/>
            </a:br>
            <a:r>
              <a:rPr sz="1600" dirty="0"/>
              <a:t>5. Scale: Quantitative numeric vs Ordinal</a:t>
            </a:r>
            <a:br>
              <a:rPr sz="1600" dirty="0"/>
            </a:br>
            <a:r>
              <a:rPr sz="1600" dirty="0"/>
              <a:t>6. Method: Test technique (HPLC, Immunoassay, Test strip)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rPr sz="1600" dirty="0"/>
              <a:t>🔗 OFFICIAL LOINC &amp; NIH CLINICAL TABLES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Regenstrief</a:t>
            </a:r>
            <a:r>
              <a:rPr sz="1600" dirty="0"/>
              <a:t> Institute LOINC Portal: https://loinc.org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NIH Clinical Tables Search API: https://clinicaltables.nlm.nih.gov/api/loinc_items/v3/search?terms={term}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Internal Platform API: GET /</a:t>
            </a:r>
            <a:r>
              <a:rPr sz="1600" dirty="0" err="1"/>
              <a:t>api</a:t>
            </a:r>
            <a:r>
              <a:rPr sz="1600" dirty="0"/>
              <a:t>/normalize/</a:t>
            </a:r>
            <a:r>
              <a:rPr sz="1600" dirty="0" err="1"/>
              <a:t>loinc</a:t>
            </a:r>
            <a:r>
              <a:rPr sz="1600" dirty="0"/>
              <a:t>/observations (Full 6-axes inspector)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 6: Anatomy References &amp; Strict AI Licensing Guardrail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sz="1600" dirty="0"/>
              <a:t>CLINICAL &amp; LEGAL REQUIREMENT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Use Anatomy and Physiology references for learning and scoping.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OpenStax</a:t>
            </a:r>
            <a:r>
              <a:rPr sz="1600" dirty="0"/>
              <a:t> A&amp;P 2e is under a non-commercial </a:t>
            </a:r>
            <a:r>
              <a:rPr sz="1600" dirty="0" err="1"/>
              <a:t>licence</a:t>
            </a:r>
            <a:r>
              <a:rPr sz="1600" dirty="0"/>
              <a:t> (CC BY-NC-SA 4.0).</a:t>
            </a:r>
            <a:br>
              <a:rPr sz="1600" dirty="0"/>
            </a:br>
            <a:r>
              <a:rPr sz="1600" dirty="0"/>
              <a:t>• Strict Legal Guardrail: It may NOT be ingested into generative AI or used to train LLMs without express permission.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WHAT WE BUILT IN THE APPLICATION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ZERO Generative AI Ingestion: Raw </a:t>
            </a:r>
            <a:r>
              <a:rPr sz="1600" dirty="0" err="1"/>
              <a:t>OpenStax</a:t>
            </a:r>
            <a:r>
              <a:rPr sz="1600" dirty="0"/>
              <a:t> text is strictly excluded from prompt vectors and model training sets.</a:t>
            </a:r>
            <a:br>
              <a:rPr sz="1600" dirty="0"/>
            </a:br>
            <a:r>
              <a:rPr sz="1600" dirty="0"/>
              <a:t>• 11 Human Body Systems Catalog: Scopes body systems (Cardiovascular, Endocrine, Respiratory, Renal, Nervous).</a:t>
            </a:r>
            <a:br>
              <a:rPr sz="1600" dirty="0"/>
            </a:br>
            <a:r>
              <a:rPr sz="1600" dirty="0"/>
              <a:t>• Compliance Banners: Prominently displays licensing disclaimers in the Anatomy catalog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C2626"/>
                </a:solidFill>
              </a:defRPr>
            </a:pPr>
            <a:r>
              <a:rPr sz="1600" dirty="0"/>
              <a:t>🔗 OFFICIAL OPENSTAX &amp; LICENSING REFERENCE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OpenStax</a:t>
            </a:r>
            <a:r>
              <a:rPr sz="1600" dirty="0"/>
              <a:t> Anatomy and Physiology 2e: https://openstax.org/details/books/anatomy-and-physiology-2e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Creative Commons CC BY-NC-SA 4.0 License: https://creativecommons.org/licenses/by-nc-sa/4.0/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Internal Platform API: GET /</a:t>
            </a:r>
            <a:r>
              <a:rPr sz="1600" dirty="0" err="1"/>
              <a:t>api</a:t>
            </a:r>
            <a:r>
              <a:rPr sz="1600" dirty="0"/>
              <a:t>/normalize/</a:t>
            </a:r>
            <a:r>
              <a:rPr sz="1600" dirty="0" err="1"/>
              <a:t>openstax</a:t>
            </a:r>
            <a:r>
              <a:rPr sz="1600" dirty="0"/>
              <a:t>/anatomy-references (Scoping 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Headings 7 &amp; 8: Units (UCUM) &amp; Medicines (ATC / RxNorm)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HEADING 7: UNITS (UCUM)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Requirement: Prevent fatal dosage &amp; lab unit errors by standardizing units of measure.</a:t>
            </a:r>
            <a:br>
              <a:rPr sz="1600" dirty="0"/>
            </a:br>
            <a:r>
              <a:rPr sz="1600" dirty="0"/>
              <a:t>• Implementation: Live validation of clinical units (%, mg/</a:t>
            </a:r>
            <a:r>
              <a:rPr sz="1600" dirty="0" err="1"/>
              <a:t>dL</a:t>
            </a:r>
            <a:r>
              <a:rPr sz="1600" dirty="0"/>
              <a:t>, </a:t>
            </a:r>
            <a:r>
              <a:rPr sz="1600" dirty="0" err="1"/>
              <a:t>mmol</a:t>
            </a:r>
            <a:r>
              <a:rPr sz="1600" dirty="0"/>
              <a:t>/L, mmHg, [</a:t>
            </a:r>
            <a:r>
              <a:rPr sz="1600" dirty="0" err="1"/>
              <a:t>degF</a:t>
            </a:r>
            <a:r>
              <a:rPr sz="1600" dirty="0"/>
              <a:t>]) via NIH NLM UCUM service.</a:t>
            </a:r>
            <a:br>
              <a:rPr sz="1600" dirty="0"/>
            </a:br>
            <a:r>
              <a:rPr sz="1600" dirty="0"/>
              <a:t>• Connected to every LOINC lab test to ensure measurements are mathematically valid.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HEADING 8: MEDICINES (ATC &amp; RXNORM)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• Requirement: Normalize drug names, dosages, and detect dangerous drug interactions.</a:t>
            </a:r>
            <a:br>
              <a:rPr sz="1600" dirty="0"/>
            </a:br>
            <a:r>
              <a:rPr sz="1600" dirty="0"/>
              <a:t>• Implementation: Live NIH </a:t>
            </a:r>
            <a:r>
              <a:rPr sz="1600" dirty="0" err="1"/>
              <a:t>RxNav</a:t>
            </a:r>
            <a:r>
              <a:rPr sz="1600" dirty="0"/>
              <a:t> queries to assign standard </a:t>
            </a:r>
            <a:r>
              <a:rPr sz="1600" dirty="0" err="1"/>
              <a:t>RxCUI</a:t>
            </a:r>
            <a:r>
              <a:rPr sz="1600" dirty="0"/>
              <a:t> codes (Metformin = 6809).</a:t>
            </a:r>
            <a:br>
              <a:rPr sz="1600" dirty="0"/>
            </a:br>
            <a:r>
              <a:rPr sz="1600" dirty="0"/>
              <a:t>• Contradiction Radar: Calls NIH DDI interaction API to block lethal combinations (e.g. Sildenafil + Nitroglycerin).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600" dirty="0" smtClean="0"/>
              <a:t>🔗 OFFICIAL UCUM &amp; NIH RXNAV MEDICINE API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 smtClean="0"/>
              <a:t>• NIH UCUM Validation Service API: https://ucum.nlm.nih.gov/ucum-service/v1/isValidUCUM/{unit}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 smtClean="0"/>
              <a:t>• NIH NLM </a:t>
            </a:r>
            <a:r>
              <a:rPr sz="1600" dirty="0" err="1" smtClean="0"/>
              <a:t>RxNav</a:t>
            </a:r>
            <a:r>
              <a:rPr sz="1600" dirty="0" smtClean="0"/>
              <a:t> Drug API: https://rxnav.nlm.nih.gov/REST/approximateTerm.json?term={drug}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 smtClean="0"/>
              <a:t>• NIH </a:t>
            </a:r>
            <a:r>
              <a:rPr sz="1600" dirty="0" err="1" smtClean="0"/>
              <a:t>RxNav</a:t>
            </a:r>
            <a:r>
              <a:rPr sz="1600" dirty="0" smtClean="0"/>
              <a:t> Drug-Drug Interaction API: https://rxnav.nlm.nih.gov/REST/interaction/list.json?rxcuis={rxcui1}+{rxcui2}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SIDEBAR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Headings 9, 10 &amp; 11: Imaging (DICOM), FHIR &amp; Procedures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718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E22CE"/>
                </a:solidFill>
              </a:defRPr>
            </a:pPr>
            <a:r>
              <a:rPr sz="1600" dirty="0"/>
              <a:t>HEADING 9</a:t>
            </a:r>
          </a:p>
          <a:p>
            <a:pPr>
              <a:spcBef>
                <a:spcPts val="400"/>
              </a:spcBef>
              <a:defRPr sz="1300" b="1">
                <a:solidFill>
                  <a:srgbClr val="052C54"/>
                </a:solidFill>
              </a:defRPr>
            </a:pPr>
            <a:r>
              <a:rPr sz="1600" dirty="0"/>
              <a:t>Medical Imaging (DICOM)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Standardizes radiological imaging metadata (X-Ray, CT, MRI). Links diagnostic reports and PACS series UID directly to patient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554480"/>
            <a:ext cx="33375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1737360"/>
            <a:ext cx="2971800" cy="219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rPr sz="1600" dirty="0"/>
              <a:t>HEADING 10</a:t>
            </a:r>
          </a:p>
          <a:p>
            <a:pPr>
              <a:spcBef>
                <a:spcPts val="400"/>
              </a:spcBef>
              <a:defRPr sz="1300" b="1">
                <a:solidFill>
                  <a:srgbClr val="052C54"/>
                </a:solidFill>
              </a:defRPr>
            </a:pPr>
            <a:r>
              <a:rPr sz="1600" dirty="0"/>
              <a:t>Interoperability (FHIR R4)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Wraps all clinical entities into international HL7 FHIR JSON bundles: Condition (ICD-11), </a:t>
            </a:r>
            <a:r>
              <a:rPr sz="1600" dirty="0" err="1"/>
              <a:t>MedicationRequest</a:t>
            </a:r>
            <a:r>
              <a:rPr sz="1600" dirty="0"/>
              <a:t> (</a:t>
            </a:r>
            <a:r>
              <a:rPr sz="1600" dirty="0" err="1"/>
              <a:t>RxNorm</a:t>
            </a:r>
            <a:r>
              <a:rPr sz="1600" dirty="0"/>
              <a:t>), Observation (LOINC), </a:t>
            </a:r>
            <a:r>
              <a:rPr sz="1600" dirty="0" err="1"/>
              <a:t>AllergyIntolerance</a:t>
            </a:r>
            <a:r>
              <a:rPr sz="16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554480"/>
            <a:ext cx="33375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737360"/>
            <a:ext cx="2971800" cy="219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rPr sz="1600" dirty="0"/>
              <a:t>HEADING 11</a:t>
            </a:r>
          </a:p>
          <a:p>
            <a:pPr>
              <a:spcBef>
                <a:spcPts val="400"/>
              </a:spcBef>
              <a:defRPr sz="1300" b="1">
                <a:solidFill>
                  <a:srgbClr val="052C54"/>
                </a:solidFill>
              </a:defRPr>
            </a:pPr>
            <a:r>
              <a:rPr sz="1600" dirty="0"/>
              <a:t>Procedures (ICHI / SNOMED)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Standardizes surgeries, diagnostic tests, and therapeutic interventions based on WHO ICHI (International Classification of Health Interventions) and SNOMED 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59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rPr sz="1600" dirty="0"/>
              <a:t>🔗 OFFICIAL STANDARDS &amp; INGESTION ENDPOINT LINKS: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HL7 FHIR R4 Standard: https://hl7.org/fhir/R4/ (Condition, Observation, </a:t>
            </a:r>
            <a:r>
              <a:rPr sz="1600" dirty="0" err="1"/>
              <a:t>MedicationRequest</a:t>
            </a:r>
            <a:r>
              <a:rPr sz="1600" dirty="0"/>
              <a:t>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NEMA DICOM Standard: https://www.dicomstandard.org (Radiology &amp; PACS)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sz="1600" dirty="0"/>
              <a:t>• Platform Ingestion Endpoints: POST /</a:t>
            </a:r>
            <a:r>
              <a:rPr sz="1600" dirty="0" err="1"/>
              <a:t>api</a:t>
            </a:r>
            <a:r>
              <a:rPr sz="1600" dirty="0"/>
              <a:t>/ingest/text  &amp;  POST /</a:t>
            </a:r>
            <a:r>
              <a:rPr sz="1600" dirty="0" err="1"/>
              <a:t>api</a:t>
            </a:r>
            <a:r>
              <a:rPr sz="1600" dirty="0"/>
              <a:t>/ingest/</a:t>
            </a:r>
            <a:r>
              <a:rPr sz="1600" dirty="0" err="1"/>
              <a:t>fhir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PATIENT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2C54"/>
                </a:solidFill>
              </a:defRPr>
            </a:pPr>
            <a:r>
              <a:t>Clinical Workflow: Doctor Intelligence Workspace &amp; Human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EN NANBA Clinical Platform  •  All Sidebar Headings &amp; Healthcare Standard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WHAT HAPPENS IN THE DOCTOR WORKSPACE?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rPr sz="1600" dirty="0"/>
              <a:t>1. Doctor Types Natural Text: Enters doctor notes without codes.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2. Multi-Standard Extraction: AI maps text to ICD-11, </a:t>
            </a:r>
            <a:r>
              <a:rPr sz="1600" dirty="0" err="1"/>
              <a:t>RxNorm</a:t>
            </a:r>
            <a:r>
              <a:rPr sz="1600" dirty="0"/>
              <a:t>, and LOINC.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3. Contradiction Radar™: Automatically blocks hazardous drugs (e.g. blocks Amoxicillin if patient has Penicillin allergy; blocks Nitrates if patient takes Sildenafil).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4. Gemini 3.8 Flash Synthesis: Proposes a safe alternative medication (e.g. Azithromycin 500mg).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rPr sz="1600" dirty="0"/>
              <a:t>THE 3 HUMAN-IN-THE-LOOP ACTIONS</a:t>
            </a:r>
          </a:p>
          <a:p>
            <a:pPr>
              <a:spcBef>
                <a:spcPts val="800"/>
              </a:spcBef>
              <a:defRPr sz="1050" b="1">
                <a:solidFill>
                  <a:srgbClr val="16A34A"/>
                </a:solidFill>
              </a:defRPr>
            </a:pPr>
            <a:r>
              <a:rPr sz="1600" dirty="0"/>
              <a:t>✅ 1. ACCEPT (Approve AI Plan)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rPr sz="1600" dirty="0"/>
              <a:t>Clinician endorses AI recommendation. Official prescription is digitally signed.</a:t>
            </a:r>
          </a:p>
          <a:p>
            <a:pPr>
              <a:spcBef>
                <a:spcPts val="800"/>
              </a:spcBef>
              <a:defRPr sz="1050" b="1">
                <a:solidFill>
                  <a:srgbClr val="D97706"/>
                </a:solidFill>
              </a:defRPr>
            </a:pPr>
            <a:r>
              <a:rPr sz="1600" dirty="0"/>
              <a:t>✏️ 2. MODIFY (Adjust Dosage / Drug)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rPr sz="1600" dirty="0"/>
              <a:t>Doctor alters dose (e.g. 500mg ➔ 250mg) or selects another approved drug.</a:t>
            </a:r>
          </a:p>
          <a:p>
            <a:pPr>
              <a:spcBef>
                <a:spcPts val="800"/>
              </a:spcBef>
              <a:defRPr sz="1050" b="1">
                <a:solidFill>
                  <a:srgbClr val="DC2626"/>
                </a:solidFill>
              </a:defRPr>
            </a:pPr>
            <a:r>
              <a:rPr sz="1600" dirty="0"/>
              <a:t>❌ 3. REJECT (Override AI Reasoning)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rPr sz="1600" dirty="0"/>
              <a:t>Doctor completely overrides recommendation with documented clinical rationale.</a:t>
            </a:r>
          </a:p>
          <a:p>
            <a:pPr>
              <a:spcBef>
                <a:spcPts val="800"/>
              </a:spcBef>
              <a:defRPr sz="1050" b="1">
                <a:solidFill>
                  <a:srgbClr val="7E22CE"/>
                </a:solidFill>
              </a:defRPr>
            </a:pPr>
            <a:r>
              <a:rPr sz="1600" dirty="0"/>
              <a:t>Immutable Evidence Ledger™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rPr sz="1600" dirty="0"/>
              <a:t>Every action is logged permanently to PostgreSQL with doctor ID and cryptographic timestamp.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C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574800"/>
            <a:ext cx="91440" cy="2479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3600" dirty="0"/>
              <a:t>Summary: 100% Standards &amp; Requirements Met</a:t>
            </a:r>
          </a:p>
          <a:p>
            <a:pPr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rPr sz="2400" dirty="0"/>
              <a:t>All 11 Healthcare Knowledge Base Headings Codified &amp; Live</a:t>
            </a:r>
          </a:p>
          <a:p>
            <a:pPr>
              <a:spcBef>
                <a:spcPts val="1600"/>
              </a:spcBef>
              <a:defRPr sz="1200">
                <a:solidFill>
                  <a:srgbClr val="CBD5E1"/>
                </a:solidFill>
              </a:defRPr>
            </a:pPr>
            <a:r>
              <a:rPr sz="1600" dirty="0"/>
              <a:t>• Disease &amp; Concepts: WHO ICD-11 (MMS &amp; Foundation) + SNOMED CT (Doctor Synonyms &amp; NRC India)</a:t>
            </a:r>
            <a:br>
              <a:rPr sz="1600" dirty="0"/>
            </a:br>
            <a:r>
              <a:rPr sz="1600" dirty="0"/>
              <a:t>• Evidence &amp; Care: NIDDK Plain-Language Dictionary + NICE Care Pathways &amp; Decision Rules</a:t>
            </a:r>
            <a:br>
              <a:rPr sz="1600" dirty="0"/>
            </a:br>
            <a:r>
              <a:rPr sz="1600" dirty="0"/>
              <a:t>• Labs &amp; Safety: LOINC 6-Axes Observations + UCUM Unit Validator + </a:t>
            </a:r>
            <a:r>
              <a:rPr sz="1600" dirty="0" err="1"/>
              <a:t>RxNorm</a:t>
            </a:r>
            <a:r>
              <a:rPr sz="1600" dirty="0"/>
              <a:t> Drug </a:t>
            </a:r>
            <a:r>
              <a:rPr sz="1600" dirty="0" smtClean="0"/>
              <a:t>Interactions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1274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 E L L</cp:lastModifiedBy>
  <cp:revision>6</cp:revision>
  <dcterms:created xsi:type="dcterms:W3CDTF">2013-01-27T09:14:16Z</dcterms:created>
  <dcterms:modified xsi:type="dcterms:W3CDTF">2026-09-29T13:17:58Z</dcterms:modified>
  <cp:category/>
</cp:coreProperties>
</file>